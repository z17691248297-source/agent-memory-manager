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orient="horz" pos="84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超超超可爱" initials="超超超可爱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5557"/>
    <a:srgbClr val="E1B3B3"/>
    <a:srgbClr val="C05356"/>
    <a:srgbClr val="FFE490"/>
    <a:srgbClr val="FFD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5" autoAdjust="0"/>
    <p:restoredTop sz="62954" autoAdjust="0"/>
  </p:normalViewPr>
  <p:slideViewPr>
    <p:cSldViewPr snapToGrid="0" snapToObjects="1" showGuides="1">
      <p:cViewPr varScale="1">
        <p:scale>
          <a:sx n="72" d="100"/>
          <a:sy n="72" d="100"/>
        </p:scale>
        <p:origin x="2148" y="60"/>
      </p:cViewPr>
      <p:guideLst>
        <p:guide orient="horz" pos="2160"/>
        <p:guide pos="3840"/>
        <p:guide pos="551"/>
        <p:guide pos="7129"/>
        <p:guide orient="horz" pos="4020"/>
        <p:guide orient="horz" pos="300"/>
        <p:guide orient="horz" pos="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D88E-BAE5-0541-9BFB-6F5AEB4D3137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29EE6-FA60-6347-BBD2-1B741790B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开场讲稿：我们做的是 AgentMem，一个面向智能体推理过程的内存管理系统。它把 Agent 侧上下文优化、工具结果外置、事件化记忆和 vLLM 服务端 agent_meta/cache_stats 观测串成了一条完整实验链路。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这一页讲第一个优化点。传统 Agent 会把历史和工具结果持续塞回 prompt，长生命周期任务越跑越膨胀。我们的做法是事件化：用户输入、工具调用、工具结果、模型回答都追加到 Event Log；模型通过 memory_delta 写结构化记忆；Memory Manager 投影出 Task State 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这一页讲工具结果外置。演示时可以打开 results/tool_store 或 results/final/main/tool_heavy_optimized.csv。重点说完整 raw output 仍然保存，prompt 里只放摘要和引用，既保留可追溯性，又减少上下文压力。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vLLM 对接。agent_meta 不进入 prompt，模型回答里不会出现这些字段；它只通过 extra_body 传给服务端。字段包括 agent_id、session_id、context_id、segment_type、priority 和 ttl。服务端可以据此管理不同类型 KV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这一页讲实验设计。为了证明 agent_meta 不只是能传，我们新增 cache-pressure 和 ttl-priority benchmark。cache-pressure 用 4 个 session、多轮请求、长 prompt 和混合 segment_type 制造压力。ttl-priority 给不同 segment 设置不同优先级和 TTL。最后用 compare_agent_meta.py 和 audit_agent_meta.py 汇总。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最后一页是演示视频讲法。录屏分三段：第一段展示 results/final 目录和 final_summary；第二段切到 PPT 第 2 到第 5 页讲模块；第三段展示命令，如 python -m pytest、python -m agentmem benchmark --scenario cache-pressure --agent-meta on/off、python scripts/compare_agent_meta.py。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AgentMem 系统优化点展示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47088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4E2F5"/>
                </a:solidFill>
                <a:latin typeface="Microsoft YaHei"/>
              </a:rPr>
              <a:t>面向智能体的内存管理系统：Event-Sourced Memory、Tool Store、agent_meta 与 cache_stats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971800"/>
            <a:ext cx="1463040" cy="822960"/>
          </a:xfrm>
          <a:prstGeom prst="roundRect">
            <a:avLst/>
          </a:prstGeom>
          <a:solidFill>
            <a:srgbClr val="EBF2FF"/>
          </a:solidFill>
          <a:ln w="15240">
            <a:solidFill>
              <a:srgbClr val="64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Agent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多轮任务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31720" y="3383280"/>
            <a:ext cx="502919" cy="0"/>
          </a:xfrm>
          <a:prstGeom prst="line">
            <a:avLst/>
          </a:prstGeom>
          <a:ln w="2540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26080" y="2971800"/>
            <a:ext cx="1463040" cy="822960"/>
          </a:xfrm>
          <a:prstGeom prst="roundRect">
            <a:avLst/>
          </a:prstGeom>
          <a:solidFill>
            <a:srgbClr val="EBF2FF"/>
          </a:solidFill>
          <a:ln w="15240">
            <a:solidFill>
              <a:srgbClr val="64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Memory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状态投影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3383280"/>
            <a:ext cx="502920" cy="0"/>
          </a:xfrm>
          <a:prstGeom prst="line">
            <a:avLst/>
          </a:prstGeom>
          <a:ln w="2540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83480" y="2971800"/>
            <a:ext cx="1463040" cy="822960"/>
          </a:xfrm>
          <a:prstGeom prst="roundRect">
            <a:avLst/>
          </a:prstGeom>
          <a:solidFill>
            <a:srgbClr val="EBF2FF"/>
          </a:solidFill>
          <a:ln w="15240">
            <a:solidFill>
              <a:srgbClr val="64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Tool Store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结果外置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46520" y="3383280"/>
            <a:ext cx="502920" cy="0"/>
          </a:xfrm>
          <a:prstGeom prst="line">
            <a:avLst/>
          </a:prstGeom>
          <a:ln w="2540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40880" y="2971800"/>
            <a:ext cx="1463040" cy="822960"/>
          </a:xfrm>
          <a:prstGeom prst="roundRect">
            <a:avLst/>
          </a:prstGeom>
          <a:solidFill>
            <a:srgbClr val="EBF2FF"/>
          </a:solidFill>
          <a:ln w="15240">
            <a:solidFill>
              <a:srgbClr val="64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vLLM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agent_meta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3383280"/>
            <a:ext cx="502920" cy="0"/>
          </a:xfrm>
          <a:prstGeom prst="line">
            <a:avLst/>
          </a:prstGeom>
          <a:ln w="2540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98280" y="2971800"/>
            <a:ext cx="1463040" cy="822960"/>
          </a:xfrm>
          <a:prstGeom prst="roundRect">
            <a:avLst/>
          </a:prstGeom>
          <a:solidFill>
            <a:srgbClr val="EBF2FF"/>
          </a:solidFill>
          <a:ln w="15240">
            <a:solidFill>
              <a:srgbClr val="64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cache_stats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实验观测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8F8"/>
                </a:solidFill>
                <a:latin typeface="Microsoft YaHei"/>
              </a:rPr>
              <a:t>建议录屏：先讲问题，再按模块图解释优化点，最后打开 results/final 展示实验结果。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1203A"/>
                </a:solidFill>
                <a:latin typeface="Microsoft YaHei"/>
              </a:rPr>
              <a:t>优化点一：Event-Sourced Memory 降低长上下文膨胀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376"/>
                </a:solidFill>
                <a:latin typeface="Microsoft YaHei"/>
              </a:rPr>
              <a:t>把完整历史拼接改为事件日志、状态投影和稳定渲染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2057400" cy="1051560"/>
          </a:xfrm>
          <a:prstGeom prst="roundRect">
            <a:avLst/>
          </a:prstGeom>
          <a:solidFill>
            <a:srgbClr val="E2EE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输入事件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user_message</a:t>
            </a:r>
            <a:br/>
            <a:r>
              <a:t>tool_call</a:t>
            </a:r>
            <a:br/>
            <a:r>
              <a:t>tool_result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15768" y="1947672"/>
            <a:ext cx="548640" cy="0"/>
          </a:xfrm>
          <a:prstGeom prst="line">
            <a:avLst/>
          </a:prstGeom>
          <a:ln w="25400">
            <a:solidFill>
              <a:srgbClr val="23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55848" y="1417320"/>
            <a:ext cx="2057400" cy="1051560"/>
          </a:xfrm>
          <a:prstGeom prst="roundRect">
            <a:avLst/>
          </a:prstGeom>
          <a:solidFill>
            <a:srgbClr val="E5F5EB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Event Log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追加写入 JSONL</a:t>
            </a:r>
            <a:br/>
            <a:r>
              <a:t>可回放、可审计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3248" y="1947672"/>
            <a:ext cx="548640" cy="0"/>
          </a:xfrm>
          <a:prstGeom prst="line">
            <a:avLst/>
          </a:prstGeom>
          <a:ln w="25400">
            <a:solidFill>
              <a:srgbClr val="23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053328" y="1417320"/>
            <a:ext cx="2057400" cy="1051560"/>
          </a:xfrm>
          <a:prstGeom prst="roundRect">
            <a:avLst/>
          </a:prstGeom>
          <a:solidFill>
            <a:srgbClr val="FFF0E0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Memory Delta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模型主动写入</a:t>
            </a:r>
            <a:br/>
            <a:r>
              <a:t>goals/facts/todos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10728" y="1947672"/>
            <a:ext cx="548640" cy="0"/>
          </a:xfrm>
          <a:prstGeom prst="line">
            <a:avLst/>
          </a:prstGeom>
          <a:ln w="25400">
            <a:solidFill>
              <a:srgbClr val="23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50808" y="1417320"/>
            <a:ext cx="2057400" cy="1051560"/>
          </a:xfrm>
          <a:prstGeom prst="roundRect">
            <a:avLst/>
          </a:prstGeom>
          <a:solidFill>
            <a:srgbClr val="EBF0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Task State View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只渲染结构化状态</a:t>
            </a:r>
            <a:br/>
            <a:r>
              <a:t>和 artifact_refs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0779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44141"/>
                </a:solidFill>
                <a:latin typeface="Microsoft YaHei"/>
              </a:rP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3474720" cy="914400"/>
          </a:xfrm>
          <a:prstGeom prst="roundRect">
            <a:avLst/>
          </a:prstGeom>
          <a:solidFill>
            <a:srgbClr val="FFEBEB"/>
          </a:solidFill>
          <a:ln w="15240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Full History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历史消息、工具输出、阶段上下文反复塞回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0779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8459"/>
                </a:solidFill>
                <a:latin typeface="Microsoft YaHei"/>
              </a:rPr>
              <a:t>After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273552"/>
            <a:ext cx="3886200" cy="914400"/>
          </a:xfrm>
          <a:prstGeom prst="roundRect">
            <a:avLst/>
          </a:prstGeom>
          <a:solidFill>
            <a:srgbClr val="E8F8F0"/>
          </a:solidFill>
          <a:ln w="15240">
            <a:solidFill>
              <a:srgbClr val="9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Event-Sourced Memory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prompt 只保留任务状态、artifact 引用和最近上下文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926080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38459"/>
                </a:solidFill>
                <a:latin typeface="Microsoft YaHei"/>
              </a:rPr>
              <a:t>84.77%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192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8303C"/>
                </a:solidFill>
                <a:latin typeface="Microsoft YaHei"/>
              </a:rPr>
              <a:t>tool-heavy token 降低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822191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35BAA"/>
                </a:solidFill>
                <a:latin typeface="Microsoft YaHe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215383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8303C"/>
                </a:solidFill>
                <a:latin typeface="Microsoft YaHei"/>
              </a:rPr>
              <a:t>multi-stage event memory 成功率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5BAA"/>
                </a:solidFill>
                <a:latin typeface="Microsoft YaHei"/>
              </a:rPr>
              <a:t>讲解重点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149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事件日志负责可追溯，Memory Delta 负责主动写记忆。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Task State View 让 prompt 变短，同时保留任务关键状态。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对应代码：agentmem/runtime、memory、event log、summarizer。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1203A"/>
                </a:solidFill>
                <a:latin typeface="Microsoft YaHei"/>
              </a:rPr>
              <a:t>优化点二：Tool Store 把大工具结果从 prompt 中外置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376"/>
                </a:solidFill>
                <a:latin typeface="Microsoft YaHei"/>
              </a:rPr>
              <a:t>工具原文落盘，prompt 只注入 result_id、summary 和 artifact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53312"/>
            <a:ext cx="2057400" cy="1005840"/>
          </a:xfrm>
          <a:prstGeom prst="roundRect">
            <a:avLst/>
          </a:prstGeom>
          <a:solidFill>
            <a:srgbClr val="E2EE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工具执行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log_analyzer</a:t>
            </a:r>
            <a:br/>
            <a:r>
              <a:t>csv_analyzer</a:t>
            </a:r>
            <a:br/>
            <a:r>
              <a:t>file_reader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15768" y="1856231"/>
            <a:ext cx="548640" cy="0"/>
          </a:xfrm>
          <a:prstGeom prst="line">
            <a:avLst/>
          </a:prstGeom>
          <a:ln w="25400">
            <a:solidFill>
              <a:srgbClr val="1F9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55848" y="1353312"/>
            <a:ext cx="2057400" cy="1005840"/>
          </a:xfrm>
          <a:prstGeom prst="roundRect">
            <a:avLst/>
          </a:prstGeom>
          <a:solidFill>
            <a:srgbClr val="E5F5EB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Raw Output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完整结果保存</a:t>
            </a:r>
            <a:br/>
            <a:r>
              <a:t>results/tool_store/raw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3248" y="1856231"/>
            <a:ext cx="548640" cy="0"/>
          </a:xfrm>
          <a:prstGeom prst="line">
            <a:avLst/>
          </a:prstGeom>
          <a:ln w="25400">
            <a:solidFill>
              <a:srgbClr val="1F9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053328" y="1353312"/>
            <a:ext cx="2057400" cy="1005840"/>
          </a:xfrm>
          <a:prstGeom prst="roundRect">
            <a:avLst/>
          </a:prstGeom>
          <a:solidFill>
            <a:srgbClr val="FFF0E0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Chunk + Index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长文本切块</a:t>
            </a:r>
            <a:br/>
            <a:r>
              <a:t>建立 artifact metadata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10728" y="1856231"/>
            <a:ext cx="548640" cy="0"/>
          </a:xfrm>
          <a:prstGeom prst="line">
            <a:avLst/>
          </a:prstGeom>
          <a:ln w="25400">
            <a:solidFill>
              <a:srgbClr val="1F9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50808" y="1353312"/>
            <a:ext cx="2057400" cy="1005840"/>
          </a:xfrm>
          <a:prstGeom prst="roundRect">
            <a:avLst/>
          </a:prstGeom>
          <a:solidFill>
            <a:srgbClr val="EBF0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Prompt 注入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摘要、引用</a:t>
            </a:r>
            <a:br/>
            <a:r>
              <a:t>必要片段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03A"/>
                </a:solidFill>
                <a:latin typeface="Microsoft YaHei"/>
              </a:rPr>
              <a:t>Tool-heavy 实验对比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C"/>
                </a:solidFill>
                <a:latin typeface="Microsoft YaHei"/>
              </a:rPr>
              <a:t>baseline prompt_tokens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319272"/>
            <a:ext cx="3566160" cy="15544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3319272"/>
            <a:ext cx="3566159" cy="155448"/>
          </a:xfrm>
          <a:prstGeom prst="rect">
            <a:avLst/>
          </a:prstGeom>
          <a:solidFill>
            <a:srgbClr val="C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27355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4141"/>
                </a:solidFill>
                <a:latin typeface="Microsoft YaHei"/>
              </a:rPr>
              <a:t>13697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C"/>
                </a:solidFill>
                <a:latin typeface="Microsoft YaHei"/>
              </a:rPr>
              <a:t>optimized prompt_tokens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730752"/>
            <a:ext cx="3566160" cy="15544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3730752"/>
            <a:ext cx="543112" cy="155448"/>
          </a:xfrm>
          <a:prstGeom prst="rect">
            <a:avLst/>
          </a:prstGeom>
          <a:solidFill>
            <a:srgbClr val="33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68503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8459"/>
                </a:solidFill>
                <a:latin typeface="Microsoft YaHei"/>
              </a:rPr>
              <a:t>2086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C"/>
                </a:solidFill>
                <a:latin typeface="Microsoft YaHei"/>
              </a:rPr>
              <a:t>raw_tool_tokens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4142232"/>
            <a:ext cx="3566160" cy="15544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4142232"/>
            <a:ext cx="3566160" cy="155448"/>
          </a:xfrm>
          <a:prstGeom prst="rect">
            <a:avLst/>
          </a:prstGeom>
          <a:solidFill>
            <a:srgbClr val="E2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09651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8034"/>
                </a:solidFill>
                <a:latin typeface="Microsoft YaHei"/>
              </a:rPr>
              <a:t>6112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C"/>
                </a:solidFill>
                <a:latin typeface="Microsoft YaHei"/>
              </a:rPr>
              <a:t>injected_tool_tokens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4553712"/>
            <a:ext cx="3566160" cy="15544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4553712"/>
            <a:ext cx="218800" cy="155448"/>
          </a:xfrm>
          <a:prstGeom prst="rect">
            <a:avLst/>
          </a:prstGeom>
          <a:solidFill>
            <a:srgbClr val="1F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50799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9EB5"/>
                </a:solidFill>
                <a:latin typeface="Microsoft YaHei"/>
              </a:rPr>
              <a:t>375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743200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9EB5"/>
                </a:solidFill>
                <a:latin typeface="Microsoft YaHei"/>
              </a:rPr>
              <a:t>讲解重点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154680"/>
            <a:ext cx="33375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工具原文不丢失，只是不再全文塞进 prompt。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artifact_refs 保证回答可追溯，raw/chunk/index 保证结果可复查。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大工具输出场景中 injected_tool_tokens 从 6112 降到 375。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1203A"/>
                </a:solidFill>
                <a:latin typeface="Microsoft YaHei"/>
              </a:rPr>
              <a:t>优化点三：agent_meta 对接 vLLM Agent-aware KV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376"/>
                </a:solidFill>
                <a:latin typeface="Microsoft YaHei"/>
              </a:rPr>
              <a:t>元信息不进入自然语言 prompt，只通过 OpenAI-compatible extra_body 发送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53312"/>
            <a:ext cx="2057400" cy="1005840"/>
          </a:xfrm>
          <a:prstGeom prst="roundRect">
            <a:avLst/>
          </a:prstGeom>
          <a:solidFill>
            <a:srgbClr val="E2EE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Agent Runtime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run_id / stage</a:t>
            </a:r>
            <a:br/>
            <a:r>
              <a:t>context_id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15768" y="1856231"/>
            <a:ext cx="548640" cy="0"/>
          </a:xfrm>
          <a:prstGeom prst="line">
            <a:avLst/>
          </a:prstGeom>
          <a:ln w="25400">
            <a:solidFill>
              <a:srgbClr val="23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55848" y="1353312"/>
            <a:ext cx="2057400" cy="1005840"/>
          </a:xfrm>
          <a:prstGeom prst="roundRect">
            <a:avLst/>
          </a:prstGeom>
          <a:solidFill>
            <a:srgbClr val="E5F5EB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AgentMetaBuilder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segment_type</a:t>
            </a:r>
            <a:br/>
            <a:r>
              <a:t>priority / ttl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3248" y="1856231"/>
            <a:ext cx="548640" cy="0"/>
          </a:xfrm>
          <a:prstGeom prst="line">
            <a:avLst/>
          </a:prstGeom>
          <a:ln w="25400">
            <a:solidFill>
              <a:srgbClr val="23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053328" y="1353312"/>
            <a:ext cx="2057400" cy="1005840"/>
          </a:xfrm>
          <a:prstGeom prst="roundRect">
            <a:avLst/>
          </a:prstGeom>
          <a:solidFill>
            <a:srgbClr val="FFF0E0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OpenAI API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extra_body={agent_meta}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10728" y="1856231"/>
            <a:ext cx="548640" cy="0"/>
          </a:xfrm>
          <a:prstGeom prst="line">
            <a:avLst/>
          </a:prstGeom>
          <a:ln w="25400">
            <a:solidFill>
              <a:srgbClr val="23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50808" y="1353312"/>
            <a:ext cx="2057400" cy="1005840"/>
          </a:xfrm>
          <a:prstGeom prst="roundRect">
            <a:avLst/>
          </a:prstGeom>
          <a:solidFill>
            <a:srgbClr val="EBF0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vLLM 原型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Agent-aware</a:t>
            </a:r>
            <a:br/>
            <a:r>
              <a:t>KV 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788920"/>
            <a:ext cx="1691640" cy="7132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338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200" b="1">
                <a:solidFill>
                  <a:srgbClr val="28303C"/>
                </a:solidFill>
                <a:latin typeface="Microsoft YaHei"/>
              </a:rPr>
              <a:t>shared_prefix</a:t>
            </a:r>
          </a:p>
          <a:p>
            <a:pPr>
              <a:defRPr sz="900">
                <a:solidFill>
                  <a:srgbClr val="28303C"/>
                </a:solidFill>
                <a:latin typeface="Microsoft YaHei"/>
              </a:defRPr>
            </a:pPr>
            <a:r>
              <a:t>high / ttl 3600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2788920"/>
            <a:ext cx="1691640" cy="7132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3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200" b="1">
                <a:solidFill>
                  <a:srgbClr val="28303C"/>
                </a:solidFill>
                <a:latin typeface="Microsoft YaHei"/>
              </a:rPr>
              <a:t>tool_schema</a:t>
            </a:r>
          </a:p>
          <a:p>
            <a:pPr>
              <a:defRPr sz="900">
                <a:solidFill>
                  <a:srgbClr val="28303C"/>
                </a:solidFill>
                <a:latin typeface="Microsoft YaHei"/>
              </a:defRPr>
            </a:pPr>
            <a:r>
              <a:t>high / ttl 1800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788920"/>
            <a:ext cx="1691640" cy="7132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2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200" b="1">
                <a:solidFill>
                  <a:srgbClr val="28303C"/>
                </a:solidFill>
                <a:latin typeface="Microsoft YaHei"/>
              </a:rPr>
              <a:t>tool_result</a:t>
            </a:r>
          </a:p>
          <a:p>
            <a:pPr>
              <a:defRPr sz="900">
                <a:solidFill>
                  <a:srgbClr val="28303C"/>
                </a:solidFill>
                <a:latin typeface="Microsoft YaHei"/>
              </a:defRPr>
            </a:pPr>
            <a:r>
              <a:t>low / ttl 120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6328" y="2788920"/>
            <a:ext cx="1691640" cy="7132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F9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200" b="1">
                <a:solidFill>
                  <a:srgbClr val="28303C"/>
                </a:solidFill>
                <a:latin typeface="Microsoft YaHei"/>
              </a:rPr>
              <a:t>scratchpad</a:t>
            </a:r>
          </a:p>
          <a:p>
            <a:pPr>
              <a:defRPr sz="900">
                <a:solidFill>
                  <a:srgbClr val="28303C"/>
                </a:solidFill>
                <a:latin typeface="Microsoft YaHei"/>
              </a:defRPr>
            </a:pPr>
            <a:r>
              <a:t>low / ttl 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45168" y="2788920"/>
            <a:ext cx="1691640" cy="7132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200" b="1">
                <a:solidFill>
                  <a:srgbClr val="28303C"/>
                </a:solidFill>
                <a:latin typeface="Microsoft YaHei"/>
              </a:rPr>
              <a:t>expired_branch</a:t>
            </a:r>
          </a:p>
          <a:p>
            <a:pPr>
              <a:defRPr sz="900">
                <a:solidFill>
                  <a:srgbClr val="28303C"/>
                </a:solidFill>
                <a:latin typeface="Microsoft YaHei"/>
              </a:defRPr>
            </a:pPr>
            <a:r>
              <a:t>drop / ttl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5BAA"/>
                </a:solidFill>
                <a:latin typeface="Microsoft YaHei"/>
              </a:rPr>
              <a:t>讲解重点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同一 benchmark run 共享 session_id，每个阶段生成不同 context_id。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vLLM 可以区分 shared_prefix、tool_schema、tool_result、scratchpad、expired_branch。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cache_stats 是 global cache view，报告中说明 off 侧历史缓存的解释口径。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1203A"/>
                </a:solidFill>
                <a:latin typeface="Microsoft YaHei"/>
              </a:rPr>
              <a:t>优化点四：实验增强证明链路可观测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66376"/>
                </a:solidFill>
                <a:latin typeface="Microsoft YaHei"/>
              </a:rPr>
              <a:t>长生命周期、多工具、多 session、cache pressure、TTL/Priority 全覆盖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743200" cy="1005840"/>
          </a:xfrm>
          <a:prstGeom prst="roundRect">
            <a:avLst/>
          </a:prstGeom>
          <a:solidFill>
            <a:srgbClr val="E2EE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主实验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tool-heavy / long-session / multi-stage / branching / prefix-cache / ablation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371600"/>
            <a:ext cx="2743200" cy="1005840"/>
          </a:xfrm>
          <a:prstGeom prst="roundRect">
            <a:avLst/>
          </a:prstGeom>
          <a:solidFill>
            <a:srgbClr val="E5F5EB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AgentMeta 对照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--agent-meta on/off</a:t>
            </a:r>
            <a:br/>
            <a:r>
              <a:t>审计 agent_meta_sent 和 segment 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371600"/>
            <a:ext cx="2743200" cy="1005840"/>
          </a:xfrm>
          <a:prstGeom prst="roundRect">
            <a:avLst/>
          </a:prstGeom>
          <a:solidFill>
            <a:srgbClr val="FFF0E0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Cache Pressure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4 个 session 交替运行</a:t>
            </a:r>
            <a:br/>
            <a:r>
              <a:t>混合 5 类 segment_type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761488"/>
            <a:ext cx="2743200" cy="1005840"/>
          </a:xfrm>
          <a:prstGeom prst="roundRect">
            <a:avLst/>
          </a:prstGeom>
          <a:solidFill>
            <a:srgbClr val="EBF0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TTL/Priority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high/low/drop + 不同 ttl</a:t>
            </a:r>
            <a:br/>
            <a:r>
              <a:t>观察 cache_stats block 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38459"/>
                </a:solidFill>
                <a:latin typeface="Microsoft YaHei"/>
              </a:rPr>
              <a:t>20/20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954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8303C"/>
                </a:solidFill>
                <a:latin typeface="Microsoft YaHei"/>
              </a:rPr>
              <a:t>on 请求 agent_meta_sent=True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816352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C44141"/>
                </a:solidFill>
                <a:latin typeface="Microsoft YaHei"/>
              </a:rPr>
              <a:t>20/20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20954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8303C"/>
                </a:solidFill>
                <a:latin typeface="Microsoft YaHei"/>
              </a:rPr>
              <a:t>off 请求 agent_meta_sent=False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816352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35BAA"/>
                </a:solidFill>
                <a:latin typeface="Microsoft YaHei"/>
              </a:rPr>
              <a:t>5 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20954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28303C"/>
                </a:solidFill>
                <a:latin typeface="Microsoft YaHei"/>
              </a:rPr>
              <a:t>segment_type 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9028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9EB5"/>
                </a:solidFill>
                <a:latin typeface="Microsoft YaHei"/>
              </a:rPr>
              <a:t>结果文件位置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0176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results/final/final_summary.csv：最终总表。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results/final/cache_pressure_compare_delta.csv：on/off cache_stats delta 对比。</a:t>
            </a:r>
          </a:p>
          <a:p>
            <a:pPr>
              <a:spcAft>
                <a:spcPts val="600"/>
              </a:spcAft>
              <a:defRPr sz="1300">
                <a:solidFill>
                  <a:srgbClr val="28303C"/>
                </a:solidFill>
                <a:latin typeface="Microsoft YaHei"/>
              </a:defRPr>
            </a:pPr>
            <a:r>
              <a:t>results/final/agent_meta_audit.csv：客户端侧 agent_meta 审计。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演示视频怎么录：3 分钟脚本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6E2F5"/>
                </a:solidFill>
                <a:latin typeface="Microsoft YaHei"/>
              </a:rPr>
              <a:t>脚本运行结果 + 系统结构讲解 + 最终结果定位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44752"/>
            <a:ext cx="2926080" cy="914400"/>
          </a:xfrm>
          <a:prstGeom prst="roundRect">
            <a:avLst/>
          </a:prstGeom>
          <a:solidFill>
            <a:srgbClr val="ECF3FF"/>
          </a:solidFill>
          <a:ln w="15240">
            <a:solidFill>
              <a:srgbClr val="5A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1. 展示目录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打开 GitHub 或本地 results/final，说明最终结果都在这里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444752"/>
            <a:ext cx="3703320" cy="914400"/>
          </a:xfrm>
          <a:prstGeom prst="roundRect">
            <a:avLst/>
          </a:prstGeom>
          <a:solidFill>
            <a:srgbClr val="E8F8F0"/>
          </a:solidFill>
          <a:ln w="15240"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2. 讲系统链路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Agent Runtime -&gt; Memory -&gt; Tool Store -&gt; agent_meta -&gt; cache_stats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44752"/>
            <a:ext cx="2971800" cy="914400"/>
          </a:xfrm>
          <a:prstGeom prst="roundRect">
            <a:avLst/>
          </a:prstGeom>
          <a:solidFill>
            <a:srgbClr val="FFF0E0"/>
          </a:solidFill>
          <a:ln w="15240">
            <a:solidFill>
              <a:srgbClr val="E2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/>
            <a:r>
              <a:rPr sz="1400" b="1">
                <a:solidFill>
                  <a:srgbClr val="28303C"/>
                </a:solidFill>
                <a:latin typeface="Microsoft YaHei"/>
              </a:rPr>
              <a:t>3. 展示命令</a:t>
            </a:r>
          </a:p>
          <a:p>
            <a:pPr>
              <a:defRPr sz="1100">
                <a:solidFill>
                  <a:srgbClr val="28303C"/>
                </a:solidFill>
                <a:latin typeface="Microsoft YaHei"/>
              </a:defRPr>
            </a:pPr>
            <a:r>
              <a:t>pytest、benchmark --agent-meta on/off、report、compare_agent_meta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建议口播顺序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8F8"/>
                </a:solidFill>
                <a:latin typeface="Microsoft YaHei"/>
              </a:rPr>
              <a:t>1. 问题：Agent 长生命周期会不断堆历史、工具结果和分支上下文。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8F8"/>
                </a:solidFill>
                <a:latin typeface="Microsoft YaHei"/>
              </a:rPr>
              <a:t>2. 方案：Event-Sourced Memory 只把结构化状态和 artifact 引用带回 prompt。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8F8"/>
                </a:solidFill>
                <a:latin typeface="Microsoft YaHei"/>
              </a:rPr>
              <a:t>3. 对接：agent_meta 把 session/context/segment/priority/ttl 传给 vLLM。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26864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8F8"/>
                </a:solidFill>
                <a:latin typeface="Microsoft YaHei"/>
              </a:rPr>
              <a:t>4. 验证：cache-pressure、ttl-priority、on/off 审计和 final_summary 证明链路可观测。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85232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DCA0"/>
                </a:solidFill>
                <a:latin typeface="Microsoft YaHei"/>
              </a:rPr>
              <a:t>录屏重点：不要逐行解释代码，重点展示命令、结果文件和这几页流程图。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2965</Words>
  <Application>Microsoft Office PowerPoint</Application>
  <PresentationFormat>宽屏</PresentationFormat>
  <Paragraphs>204</Paragraphs>
  <Slides>23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Source Han Serif SC Heavy</vt:lpstr>
      <vt:lpstr>等线</vt:lpstr>
      <vt:lpstr>微软雅黑</vt:lpstr>
      <vt:lpstr>Arial</vt:lpstr>
      <vt:lpstr>Impact</vt:lpstr>
      <vt:lpstr>Times New Roman</vt:lpstr>
      <vt:lpstr>Wingdings</vt:lpstr>
      <vt:lpstr>Office 主题​​</vt:lpstr>
      <vt:lpstr>Microsoft Visio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于 正洋</dc:creator>
  <cp:lastModifiedBy>泽中 武</cp:lastModifiedBy>
  <cp:revision>231</cp:revision>
  <dcterms:created xsi:type="dcterms:W3CDTF">2022-04-14T15:34:00Z</dcterms:created>
  <dcterms:modified xsi:type="dcterms:W3CDTF">2025-07-15T07:58:13Z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95F6E240496B4715AE197D110E7718AC_12</vt:lpwstr>
  </property>
  <property fmtid="{D5CDD505-2E9C-101B-9397-08002B2CF9AE}" pid="3" name="KSOProductBuildVer">
    <vt:lpwstr>1033-12.2.0.21931</vt:lpwstr>
  </property>
</Properties>
</file>